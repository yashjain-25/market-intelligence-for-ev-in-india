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77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1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414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28337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283374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2530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 •  DATA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92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Intelligence for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 Vehicles in India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Analysis &amp; Visualization study of India's EV registration market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8337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5440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Yash Jain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5870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No: CL20260703011712424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61320" y="502920"/>
            <a:ext cx="914400" cy="914400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13" name="Image 0" descr="icons/ic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776" y="722376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roadmap of what this presentation covers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8249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ic_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84" y="1822948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54480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1554480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505456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3347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ic_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84" y="2773924"/>
            <a:ext cx="304312" cy="304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05456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83080" y="2505456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456432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58444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ic_objecti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84" y="3724900"/>
            <a:ext cx="304312" cy="304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456432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3456432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4407408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713232" y="453542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ic_probl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84" y="4675876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407408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83080" y="440740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48640" y="5358384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713232" y="548640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icons/ic_datas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684" y="5626852"/>
            <a:ext cx="304312" cy="304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358384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783080" y="5358384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6263640" y="155448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30" name="Shape 23"/>
          <p:cNvSpPr/>
          <p:nvPr/>
        </p:nvSpPr>
        <p:spPr>
          <a:xfrm>
            <a:off x="6428232" y="168249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icons/ic_analysi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8684" y="1822948"/>
            <a:ext cx="304312" cy="3043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1554480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498080" y="1554480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34" name="Shape 26"/>
          <p:cNvSpPr/>
          <p:nvPr/>
        </p:nvSpPr>
        <p:spPr>
          <a:xfrm>
            <a:off x="6263640" y="2505456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35" name="Shape 27"/>
          <p:cNvSpPr/>
          <p:nvPr/>
        </p:nvSpPr>
        <p:spPr>
          <a:xfrm>
            <a:off x="6428232" y="263347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icons/ic_packag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8684" y="2773924"/>
            <a:ext cx="304312" cy="30431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132320" y="2505456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7498080" y="2505456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Packages Used</a:t>
            </a:r>
            <a:endParaRPr lang="en-US" sz="1600" dirty="0"/>
          </a:p>
        </p:txBody>
      </p:sp>
      <p:sp>
        <p:nvSpPr>
          <p:cNvPr id="39" name="Shape 30"/>
          <p:cNvSpPr/>
          <p:nvPr/>
        </p:nvSpPr>
        <p:spPr>
          <a:xfrm>
            <a:off x="6263640" y="3456432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40" name="Shape 31"/>
          <p:cNvSpPr/>
          <p:nvPr/>
        </p:nvSpPr>
        <p:spPr>
          <a:xfrm>
            <a:off x="6428232" y="358444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icons/ic_insigh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8684" y="3724900"/>
            <a:ext cx="304312" cy="30431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132320" y="3456432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</a:t>
            </a:r>
            <a:endParaRPr lang="en-US" sz="1600" dirty="0"/>
          </a:p>
        </p:txBody>
      </p:sp>
      <p:sp>
        <p:nvSpPr>
          <p:cNvPr id="43" name="Text 33"/>
          <p:cNvSpPr/>
          <p:nvPr/>
        </p:nvSpPr>
        <p:spPr>
          <a:xfrm>
            <a:off x="7498080" y="3456432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600" dirty="0"/>
          </a:p>
        </p:txBody>
      </p:sp>
      <p:sp>
        <p:nvSpPr>
          <p:cNvPr id="44" name="Shape 34"/>
          <p:cNvSpPr/>
          <p:nvPr/>
        </p:nvSpPr>
        <p:spPr>
          <a:xfrm>
            <a:off x="6263640" y="4407408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45" name="Shape 35"/>
          <p:cNvSpPr/>
          <p:nvPr/>
        </p:nvSpPr>
        <p:spPr>
          <a:xfrm>
            <a:off x="6428232" y="453542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6" name="Image 8" descr="icons/ic_bizidea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8684" y="4675876"/>
            <a:ext cx="304312" cy="30431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132320" y="4407408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</a:t>
            </a:r>
            <a:endParaRPr lang="en-US" sz="1600" dirty="0"/>
          </a:p>
        </p:txBody>
      </p:sp>
      <p:sp>
        <p:nvSpPr>
          <p:cNvPr id="48" name="Text 37"/>
          <p:cNvSpPr/>
          <p:nvPr/>
        </p:nvSpPr>
        <p:spPr>
          <a:xfrm>
            <a:off x="7498080" y="440740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Ideas</a:t>
            </a:r>
            <a:endParaRPr lang="en-US" sz="1600" dirty="0"/>
          </a:p>
        </p:txBody>
      </p:sp>
      <p:sp>
        <p:nvSpPr>
          <p:cNvPr id="49" name="Shape 38"/>
          <p:cNvSpPr/>
          <p:nvPr/>
        </p:nvSpPr>
        <p:spPr>
          <a:xfrm>
            <a:off x="6263640" y="5358384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50" name="Shape 39"/>
          <p:cNvSpPr/>
          <p:nvPr/>
        </p:nvSpPr>
        <p:spPr>
          <a:xfrm>
            <a:off x="6428232" y="548640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1" name="Image 9" descr="icons/ic_conclus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8684" y="5626852"/>
            <a:ext cx="304312" cy="304312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7132320" y="5358384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</a:t>
            </a:r>
            <a:endParaRPr lang="en-US" sz="1600" dirty="0"/>
          </a:p>
        </p:txBody>
      </p:sp>
      <p:sp>
        <p:nvSpPr>
          <p:cNvPr id="53" name="Text 41"/>
          <p:cNvSpPr/>
          <p:nvPr/>
        </p:nvSpPr>
        <p:spPr>
          <a:xfrm>
            <a:off x="7498080" y="5358384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4" name="Text 4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55" name="Text 4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eight-stage pipeline from raw data to business recommendations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37944" y="2903220"/>
            <a:ext cx="313509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86384" y="237744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wf_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" y="2629814"/>
            <a:ext cx="546811" cy="5468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" y="3538728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4944" y="19933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3013" y="2903220"/>
            <a:ext cx="313509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151453" y="237744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wf_coll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827" y="2629814"/>
            <a:ext cx="546811" cy="5468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31413" y="3538728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060013" y="19933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68081" y="2903220"/>
            <a:ext cx="313509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516521" y="237744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wf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8896" y="2629814"/>
            <a:ext cx="546811" cy="54681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196481" y="3538728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425081" y="19933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933150" y="2903220"/>
            <a:ext cx="313509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4881590" y="237744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wf_e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3964" y="2629814"/>
            <a:ext cx="546811" cy="54681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61550" y="3538728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790150" y="19933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298218" y="2903220"/>
            <a:ext cx="313509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6246658" y="237744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icons/wf_viz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9033" y="2629814"/>
            <a:ext cx="546811" cy="54681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26618" y="3538728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155218" y="19933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663287" y="2903220"/>
            <a:ext cx="313509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0" name="Shape 23"/>
          <p:cNvSpPr/>
          <p:nvPr/>
        </p:nvSpPr>
        <p:spPr>
          <a:xfrm>
            <a:off x="7611727" y="237744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icons/wf_insigh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4101" y="2629814"/>
            <a:ext cx="546811" cy="54681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91687" y="3538728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7520287" y="19933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10028355" y="2903220"/>
            <a:ext cx="313509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5" name="Shape 27"/>
          <p:cNvSpPr/>
          <p:nvPr/>
        </p:nvSpPr>
        <p:spPr>
          <a:xfrm>
            <a:off x="8976795" y="237744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icons/wf_biz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9170" y="2629814"/>
            <a:ext cx="546811" cy="54681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656755" y="3538728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8885355" y="19933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10341864" y="237744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0" name="Image 7" descr="icons/wf_conclus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94238" y="2629814"/>
            <a:ext cx="546811" cy="546811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0021824" y="3538728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10250424" y="19933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1097280" y="46634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feeds the next — poor cleaning limits EDA, and EDA without visualization rarely produces an actionable insight.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9304"/>
            <a:ext cx="146304" cy="14630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16128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EV Growth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453896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 registrations across India have risen steadily since 2022, spanning two-wheelers, passenger cars, and commercial fleets.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76856"/>
            <a:ext cx="146304" cy="14630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Market Intelligence Matters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41448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Manufacturers, investors, and policymakers need data-backed clarity on where demand, pricing, and infrastructure are heading.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146304" cy="14630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3639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Push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and state subsidy schemes and charging-infrastructure mandates are actively shaping adoption curves.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46304" cy="14630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23944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Consumer Adoption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416552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battery costs and expanding model choice are pulling first-time buyers into the EV segment.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239512"/>
            <a:ext cx="146304" cy="14630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1149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This Study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5404104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 30,000+ record registration dataset to surface state-, manufacturer-, and category-level patterns for strategic decisions.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857920"/>
            <a:ext cx="3611880" cy="5074923"/>
          </a:xfrm>
          <a:prstGeom prst="roundRect">
            <a:avLst>
              <a:gd name="adj" fmla="val 3038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925157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EV Market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83880" y="1793837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30,100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183880" y="2177885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vehicle registration records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83880" y="2616797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183880" y="3000845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83880" y="3439757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3823805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(post-cleaning)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3880" y="4262717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2022-26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183880" y="4646765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years spanned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83880" y="5085677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55.5%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183880" y="5376137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are Passenger EVs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goals guiding the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obj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17819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317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India's EV market trends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registration growth year over year and month over month.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645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obj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343" y="178198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3317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adoption patterns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26280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which vehicle categories and classes customers prefer.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645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obj_reg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383" y="178198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3317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regional demand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75320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state-wise registration volumes and growth pockets.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886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obj_char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303" y="402226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5720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charging infrastructure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how charging-station density varies by state.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6576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886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icons/obj_opportun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2343" y="402226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5720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market opportunities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2628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under-penetrated, high-urbanization states.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6576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3886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icons/obj_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1383" y="4022263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5720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data-driven insights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7532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cleaned data into recommendations using analytics.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challenges motivating this study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6" name="Image 0" descr="icons/prob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24" y="1773204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EV adoption creates demand-forecasting challenges for manufacturers.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645920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11" name="Image 1" descr="icons/prob_reg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564" y="1773204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26280" y="23317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variations make uniform market planning difficult.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Shape 11"/>
          <p:cNvSpPr/>
          <p:nvPr/>
        </p:nvSpPr>
        <p:spPr>
          <a:xfrm>
            <a:off x="8275320" y="1645920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16" name="Image 2" descr="icons/prob_char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604" y="1773204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78992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275320" y="23317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charging infrastructure affects consumer adoption in several states.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6118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3840480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21" name="Image 3" descr="icons/prob_inv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524" y="3967764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291840" y="3794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77240" y="45262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require data-driven investment decisions, not intuition.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297680" y="36118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6280" y="3840480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26" name="Image 4" descr="icons/prob_pr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3564" y="3967764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40880" y="3794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4526280" y="45262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preferences across categories and classes are continuously evolving.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046720" y="36118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30" name="Shape 23"/>
          <p:cNvSpPr/>
          <p:nvPr/>
        </p:nvSpPr>
        <p:spPr>
          <a:xfrm>
            <a:off x="8275320" y="3840480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31" name="Image 5" descr="icons/prob_strateg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2604" y="3967764"/>
            <a:ext cx="275783" cy="27578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789920" y="3794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8275320" y="45262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is essential for strategic, state-level decision-making.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5905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ds_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972" y="1699504"/>
            <a:ext cx="304312" cy="304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27101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63040" y="16002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/ synthetic India EV registration dataset, modeled on realistic market patterns for academic analysis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724912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314096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ds_ro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972" y="3281416"/>
            <a:ext cx="304312" cy="304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8529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63040" y="3182112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30,100 raw rows (29,920 after cleaning) — one row per vehicle registration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4306824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" y="472287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s/ds_co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972" y="4863328"/>
            <a:ext cx="304312" cy="304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434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463040" y="4764024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features spanning vehicle, market, and macro-economic information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263640" y="114300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</p:spPr>
      </p:sp>
      <p:sp>
        <p:nvSpPr>
          <p:cNvPr id="19" name="Shape 14"/>
          <p:cNvSpPr/>
          <p:nvPr/>
        </p:nvSpPr>
        <p:spPr>
          <a:xfrm>
            <a:off x="6446520" y="155905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s/ds_ty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972" y="1699504"/>
            <a:ext cx="304312" cy="3043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127101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178040" y="16002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numeric (price, range, battery, GDP) and categorical (state, manufacturer, class) fields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263640" y="2724912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</p:spPr>
      </p:sp>
      <p:sp>
        <p:nvSpPr>
          <p:cNvPr id="24" name="Shape 18"/>
          <p:cNvSpPr/>
          <p:nvPr/>
        </p:nvSpPr>
        <p:spPr>
          <a:xfrm>
            <a:off x="6446520" y="314096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icons/ds_miss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6972" y="3281416"/>
            <a:ext cx="304312" cy="3043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78040" y="28529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178040" y="3182112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 6 columns: Battery_kWh, Range_km, Charging_Type, Subsidy_INR, Temperature_C, Festival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263640" y="4306824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</p:spPr>
      </p:sp>
      <p:sp>
        <p:nvSpPr>
          <p:cNvPr id="29" name="Shape 22"/>
          <p:cNvSpPr/>
          <p:nvPr/>
        </p:nvSpPr>
        <p:spPr>
          <a:xfrm>
            <a:off x="6446520" y="472287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icons/ds_featur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6972" y="4863328"/>
            <a:ext cx="304312" cy="3043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78040" y="4434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178040" y="4764024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Manufacturer, EV_Category, Battery_kWh, Range_km, Vehicle_Price_INR, Units_Registered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Preview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view of the Electric Vehicle Market Dataset (post-cleaning)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pic>
        <p:nvPicPr>
          <p:cNvPr id="5" name="Image 0" descr="charts/dataset_pre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691640"/>
            <a:ext cx="1060704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2578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8 records — key columns shown; the full dataset carries 32 columns.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registrations to an analysis-ready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8191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removed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58191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imputed per affected column (median / mode)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58191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→ 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63640" y="2194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name variants standardized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58191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52560" y="2194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price / battery outliers removed (IQR method)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 applied: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493008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374136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6 columns for clarity (e.g. Vehicle_Category → EV_Category)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858768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exact duplicate registrations, keeping the first occurrence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462272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3434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inconsistent Manufacturer casing (ATHER / Ather / ather energy → Ather)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946904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82803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numeric gaps with the median (robust to skew) and categorical gaps with the mode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431536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31266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the IQR method to strip unrealistic price and battery-capacity outliers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Packages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stack behind this study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874520" y="1600200"/>
            <a:ext cx="640080" cy="640080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6" name="Image 0" descr="icons/pkg_pan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139" y="17538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331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6243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cleaning, grouping &amp; pivoting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069080" y="141732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5394960" y="1600200"/>
            <a:ext cx="640080" cy="640080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11" name="Image 1" descr="icons/pkg_num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579" y="17538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2331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206240" y="26243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 &amp; array computation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589520" y="141732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915400" y="1600200"/>
            <a:ext cx="640080" cy="640080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16" name="Image 2" descr="icons/pkg_matplotli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9019" y="17538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26680" y="2331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726680" y="26243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static charting engine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24612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1874520" y="3429000"/>
            <a:ext cx="640080" cy="640080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21" name="Image 3" descr="icons/pkg_seabo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8139" y="358261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4160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5800" y="4453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visualizations (box, violin, KDE)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069080" y="324612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5394960" y="3429000"/>
            <a:ext cx="640080" cy="640080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26" name="Image 4" descr="icons/pkg_plotl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8579" y="358261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06240" y="4160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206240" y="4453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exploratory charts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7589520" y="324612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30" name="Shape 23"/>
          <p:cNvSpPr/>
          <p:nvPr/>
        </p:nvSpPr>
        <p:spPr>
          <a:xfrm>
            <a:off x="8915400" y="3429000"/>
            <a:ext cx="640080" cy="640080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31" name="Image 5" descr="icons/pkg_sklear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9019" y="358261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726680" y="4160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726680" y="4453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regression support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01 — EV Registrations Are Rising Every Year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How has EV registration volume grown year-over-year across India?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38912" y="1261872"/>
            <a:ext cx="6894576" cy="4379976"/>
          </a:xfrm>
          <a:prstGeom prst="roundRect">
            <a:avLst>
              <a:gd name="adj" fmla="val 1253"/>
            </a:avLst>
          </a:prstGeom>
          <a:solidFill>
            <a:srgbClr val="F4F6FB"/>
          </a:solidFill>
          <a:ln/>
        </p:spPr>
      </p:sp>
      <p:pic>
        <p:nvPicPr>
          <p:cNvPr id="5" name="Image 0" descr="charts/q1_yearly_growth_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667512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0" y="13716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98080" y="1938528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8" name="Text 5"/>
          <p:cNvSpPr/>
          <p:nvPr/>
        </p:nvSpPr>
        <p:spPr>
          <a:xfrm>
            <a:off x="7754112" y="1819656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EV registrations show a clear, consistent upward trend across 2022–2026.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98080" y="283464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Text 7"/>
          <p:cNvSpPr/>
          <p:nvPr/>
        </p:nvSpPr>
        <p:spPr>
          <a:xfrm>
            <a:off x="7754112" y="2715768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trajectory confirms an active expansion phase for the Indian EV industry.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98080" y="373075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Text 9"/>
          <p:cNvSpPr/>
          <p:nvPr/>
        </p:nvSpPr>
        <p:spPr>
          <a:xfrm>
            <a:off x="7754112" y="36118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year shows a decline — momentum has been sustained, not a one-off spike.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02 — Ola Electric Leads Manufacturer Share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Which manufacturers hold the largest share of the Indian EV market?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858207" y="1261872"/>
            <a:ext cx="6894576" cy="4379976"/>
          </a:xfrm>
          <a:prstGeom prst="roundRect">
            <a:avLst>
              <a:gd name="adj" fmla="val 1253"/>
            </a:avLst>
          </a:prstGeom>
          <a:solidFill>
            <a:srgbClr val="F4F6FB"/>
          </a:solidFill>
          <a:ln/>
        </p:spPr>
      </p:sp>
      <p:pic>
        <p:nvPicPr>
          <p:cNvPr id="5" name="Image 0" descr="charts/q2_manufacturer_share_b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67935" y="1371600"/>
            <a:ext cx="667512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938528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19656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Electric leads with roughly 11.5% of total registrations nationally.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715768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manufacturer holds a noticeably larger share than its nearest competitors.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73075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36118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manufacturers (Tata, TVS, Ather, Bajaj) make up most of the remaining volume.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03 — EV Adoption Is Geographically Uneven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Which states show the highest EV adoption levels?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38912" y="1261872"/>
            <a:ext cx="6894576" cy="4379976"/>
          </a:xfrm>
          <a:prstGeom prst="roundRect">
            <a:avLst>
              <a:gd name="adj" fmla="val 1253"/>
            </a:avLst>
          </a:prstGeom>
          <a:solidFill>
            <a:srgbClr val="F4F6FB"/>
          </a:solidFill>
          <a:ln/>
        </p:spPr>
      </p:sp>
      <p:pic>
        <p:nvPicPr>
          <p:cNvPr id="5" name="Image 0" descr="charts/q3_state_choroplet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667512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0" y="13716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98080" y="1938528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8" name="Text 5"/>
          <p:cNvSpPr/>
          <p:nvPr/>
        </p:nvSpPr>
        <p:spPr>
          <a:xfrm>
            <a:off x="7754112" y="1819656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leads with about 10.5% of national registrations.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98080" y="283464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Text 7"/>
          <p:cNvSpPr/>
          <p:nvPr/>
        </p:nvSpPr>
        <p:spPr>
          <a:xfrm>
            <a:off x="7754112" y="2715768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states together account for roughly 51.3% of all registrations.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98080" y="373075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Text 9"/>
          <p:cNvSpPr/>
          <p:nvPr/>
        </p:nvSpPr>
        <p:spPr>
          <a:xfrm>
            <a:off x="7754112" y="36118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concentrated in a handful of urban, higher-income states.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04 — Two-Wheelers Dominate, Passenger Class Leads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2W vs 4W split (Pie Chart)   •   Q9: EV Class preference (Count Plot)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</p:spPr>
      </p:sp>
      <p:pic>
        <p:nvPicPr>
          <p:cNvPr id="5" name="Image 0" descr="charts/q4_category_pi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52120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32588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</p:spPr>
      </p:sp>
      <p:pic>
        <p:nvPicPr>
          <p:cNvPr id="7" name="Image 1" descr="charts/q9_class_countplo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417320"/>
            <a:ext cx="5212080" cy="3931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 category and one EV class clearly dominate — two-wheelers reflect India’s affordability-driven adoption, and Passenger-class vehicles mirror the same category-level split.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05 — Mass-Market Batteries, Right-Skewed Pricing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Battery capacity distribution (Histogram)   •   Q10: Vehicle pricing distribution (KDE Plot)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4F6FB"/>
          </a:solidFill>
          <a:ln/>
        </p:spPr>
      </p:sp>
      <p:pic>
        <p:nvPicPr>
          <p:cNvPr id="5" name="Image 0" descr="charts/q5_battery_histo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52120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32588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4F6FB"/>
          </a:solidFill>
          <a:ln/>
        </p:spPr>
      </p:sp>
      <p:pic>
        <p:nvPicPr>
          <p:cNvPr id="7" name="Image 1" descr="charts/q10_price_kd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417320"/>
            <a:ext cx="5212080" cy="3931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cluster around a moderate battery-capacity range typical of two-wheelers and compact cars; prices are right-skewed, concentrated in the affordable-to-mid band with a small premium tail.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06 — Infrastructure Gaps &amp; Market Concentration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Charging infrastructure by state (Error Bar)   •   Q7: Cumulative manufacturer share (Area Plot)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</p:spPr>
      </p:sp>
      <p:pic>
        <p:nvPicPr>
          <p:cNvPr id="5" name="Image 0" descr="charts/q6_charging_errorb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52120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32588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</p:spPr>
      </p:sp>
      <p:pic>
        <p:nvPicPr>
          <p:cNvPr id="7" name="Image 1" descr="charts/q7_market_share_are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417320"/>
            <a:ext cx="5212080" cy="3931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differ not just in average charging-station counts but in variability across records; a small group of manufacturers already accounts for most of the cumulative market share (Pareto pattern).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07 — Subsidies and Range Vary by Segment &amp; State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Subsidy by EV category (Box Plot)   •   Q13: Driving range by top states (Violin Plot)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4F6FB"/>
          </a:solidFill>
          <a:ln/>
        </p:spPr>
      </p:sp>
      <p:pic>
        <p:nvPicPr>
          <p:cNvPr id="5" name="Image 0" descr="charts/q8_subsidy_boxpl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52120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32588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4F6FB"/>
          </a:solidFill>
          <a:ln/>
        </p:spPr>
      </p:sp>
      <p:pic>
        <p:nvPicPr>
          <p:cNvPr id="7" name="Image 1" descr="charts/q13_range_violi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417320"/>
            <a:ext cx="5212080" cy="3931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Four-wheelers receive a wider range and higher median subsidy than two-wheelers, reflecting their higher base cost; driving-range distributions differ noticeably across the top-adopting states.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08 — Range Drives Price; Growth Comes in Bursts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Q11: Range vs price (Regression Plot)   •   Q12: Month-on-month trend (Step Plot)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</p:spPr>
      </p:sp>
      <p:pic>
        <p:nvPicPr>
          <p:cNvPr id="5" name="Image 0" descr="charts/q11_range_price_re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52120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32588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</p:spPr>
      </p:sp>
      <p:pic>
        <p:nvPicPr>
          <p:cNvPr id="7" name="Image 1" descr="charts/q12_monthly_ste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417320"/>
            <a:ext cx="5212080" cy="3931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and price correlate positively (r ≈ 0.65) — longer-range EVs command higher prices; the step plot shows several months with sharp period-to-period jumps in registrations.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09 — Where Opportunity and Growth Momentum Sit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Q14: Urbanization vs registration density (Strip Plot)   •   Q15: YoY growth by manufacturer (Swarm Plot)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4F6FB"/>
          </a:solidFill>
          <a:ln/>
        </p:spPr>
      </p:sp>
      <p:pic>
        <p:nvPicPr>
          <p:cNvPr id="5" name="Image 0" descr="charts/q14_urbanization_stri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52120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32588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4F6FB"/>
          </a:solidFill>
          <a:ln/>
        </p:spPr>
      </p:sp>
      <p:pic>
        <p:nvPicPr>
          <p:cNvPr id="7" name="Image 1" descr="charts/q15_yoy_swar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417320"/>
            <a:ext cx="5212080" cy="3931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states combine high urbanization with comparatively lower registrations — prime market-opportunity targets; manufacturers with consistently higher YoY growth are best positioned to lead the next expansion phase.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10 — How the Numeric Features Relate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and Pair Plot across key numeric features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</p:spPr>
      </p:sp>
      <p:pic>
        <p:nvPicPr>
          <p:cNvPr id="5" name="Image 0" descr="charts/corr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52120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32588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</p:spPr>
      </p:sp>
      <p:pic>
        <p:nvPicPr>
          <p:cNvPr id="7" name="Image 1" descr="charts/pairplo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417320"/>
            <a:ext cx="5212080" cy="3931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Vehicle_Price_INR and Range_km show a positive correlation, confirming the pricing pattern seen earlier; Battery_kWh, Range_km, and Price form clear, visibly separated clusters in the pair plot.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Ideas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opportunities suggested by the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6" name="Image 0" descr="icons/biz_charg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24" y="1773204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Stations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under-penetrated, high-urbanization states flagged in the strip-plot analysis.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20440" cy="1995125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675085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11" name="Image 1" descr="icons/biz_batte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564" y="1802369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315165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Swapping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26280" y="2680925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upfront cost friction for 2W buyers, the dominant registration segment.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1645920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16" name="Image 2" descr="icons/biz_fle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604" y="1773204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Electrification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75320" y="26517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logistics &amp; delivery operators in top-5 registration states.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584448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3813048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21" name="Image 3" descr="icons/biz_ru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524" y="3940332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4531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EV Expansion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481888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the 10 covered states into adjacent, lower-penetration markets.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97680" y="3603515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6280" y="3832115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26" name="Image 4" descr="icons/biz_predicti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3564" y="3959399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472195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Demand Analytics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26280" y="4837955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YoY growth patterns to forecast manufacturer-level demand.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8275320" y="44531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Financing Solutions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8062671" y="3598880"/>
            <a:ext cx="3520440" cy="1951528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35" name="Shape 27"/>
          <p:cNvSpPr/>
          <p:nvPr/>
        </p:nvSpPr>
        <p:spPr>
          <a:xfrm>
            <a:off x="8253323" y="3756249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36" name="Image 6" descr="icons/biz_ap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0608" y="3870072"/>
            <a:ext cx="275783" cy="27578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253323" y="436162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Charging Apps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8291271" y="471428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drivers to stations using real-time infrastructure-density data.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457505" y="6429517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Growth Outlook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insight behind accelerating EV adoption</a:t>
            </a:r>
            <a:endParaRPr lang="en-US" sz="1300" dirty="0"/>
          </a:p>
        </p:txBody>
      </p:sp>
      <p:sp>
        <p:nvSpPr>
          <p:cNvPr id="4" name="Callout Shape"/>
          <p:cNvSpPr/>
          <p:nvPr/>
        </p:nvSpPr>
        <p:spPr>
          <a:xfrm>
            <a:off x="548640" y="1417320"/>
            <a:ext cx="11094720" cy="160020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5" name="Callout Label"/>
          <p:cNvSpPr/>
          <p:nvPr/>
        </p:nvSpPr>
        <p:spPr>
          <a:xfrm>
            <a:off x="914400" y="1600200"/>
            <a:ext cx="1036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</a:t>
            </a:r>
            <a:endParaRPr lang="en-US" sz="1100" b="1" dirty="0"/>
          </a:p>
        </p:txBody>
      </p:sp>
      <p:sp>
        <p:nvSpPr>
          <p:cNvPr id="6" name="Callout Headline"/>
          <p:cNvSpPr/>
          <p:nvPr/>
        </p:nvSpPr>
        <p:spPr>
          <a:xfrm>
            <a:off x="914400" y="1965960"/>
            <a:ext cx="1036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adoption isn’t demand-constrained — it’s execution-constrained. Growth compounds fastest where charging access, financing, and demand forecasting scale together in the states the data flags as under-served.</a:t>
            </a:r>
            <a:endParaRPr lang="en-US" sz="1600" b="1" dirty="0"/>
          </a:p>
        </p:txBody>
      </p:sp>
      <p:sp>
        <p:nvSpPr>
          <p:cNvPr id="7" name="Card 1"/>
          <p:cNvSpPr/>
          <p:nvPr/>
        </p:nvSpPr>
        <p:spPr>
          <a:xfrm>
            <a:off x="548640" y="3291840"/>
            <a:ext cx="2636520" cy="268605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8" name="Circle 1"/>
          <p:cNvSpPr/>
          <p:nvPr/>
        </p:nvSpPr>
        <p:spPr>
          <a:xfrm>
            <a:off x="777240" y="3520440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9" name="Image 0" descr="icons/biz_char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24" y="3647724"/>
            <a:ext cx="275783" cy="275783"/>
          </a:xfrm>
          <a:prstGeom prst="rect">
            <a:avLst/>
          </a:prstGeom>
        </p:spPr>
      </p:pic>
      <p:sp>
        <p:nvSpPr>
          <p:cNvPr id="10" name="Title 1"/>
          <p:cNvSpPr/>
          <p:nvPr/>
        </p:nvSpPr>
        <p:spPr>
          <a:xfrm>
            <a:off x="777240" y="4160520"/>
            <a:ext cx="217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Access First</a:t>
            </a:r>
            <a:endParaRPr lang="en-US" sz="1300" dirty="0"/>
          </a:p>
        </p:txBody>
      </p:sp>
      <p:sp>
        <p:nvSpPr>
          <p:cNvPr id="11" name="Desc 1"/>
          <p:cNvSpPr/>
          <p:nvPr/>
        </p:nvSpPr>
        <p:spPr>
          <a:xfrm>
            <a:off x="777240" y="4526280"/>
            <a:ext cx="2179320" cy="13601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charging build-out in the high-urbanization, low-registration states the strip-plot flags as under-served.</a:t>
            </a:r>
            <a:endParaRPr lang="en-US" sz="1000" dirty="0"/>
          </a:p>
        </p:txBody>
      </p:sp>
      <p:sp>
        <p:nvSpPr>
          <p:cNvPr id="12" name="Card 2"/>
          <p:cNvSpPr/>
          <p:nvPr/>
        </p:nvSpPr>
        <p:spPr>
          <a:xfrm>
            <a:off x="3368040" y="3291840"/>
            <a:ext cx="2636520" cy="268605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13" name="Circle 2"/>
          <p:cNvSpPr/>
          <p:nvPr/>
        </p:nvSpPr>
        <p:spPr>
          <a:xfrm>
            <a:off x="3596640" y="3520440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14" name="Image 1" descr="icons/biz_fi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924" y="3647724"/>
            <a:ext cx="275783" cy="275783"/>
          </a:xfrm>
          <a:prstGeom prst="rect">
            <a:avLst/>
          </a:prstGeom>
        </p:spPr>
      </p:pic>
      <p:sp>
        <p:nvSpPr>
          <p:cNvPr id="15" name="Title 2"/>
          <p:cNvSpPr/>
          <p:nvPr/>
        </p:nvSpPr>
        <p:spPr>
          <a:xfrm>
            <a:off x="3596640" y="4160520"/>
            <a:ext cx="217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Financing</a:t>
            </a:r>
            <a:endParaRPr lang="en-US" sz="1300" dirty="0"/>
          </a:p>
        </p:txBody>
      </p:sp>
      <p:sp>
        <p:nvSpPr>
          <p:cNvPr id="16" name="Desc 2"/>
          <p:cNvSpPr/>
          <p:nvPr/>
        </p:nvSpPr>
        <p:spPr>
          <a:xfrm>
            <a:off x="3596640" y="4526280"/>
            <a:ext cx="2179320" cy="13601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the price-sensitive mid-market segment seen in the pricing distribution with tailored EV loan products.</a:t>
            </a:r>
            <a:endParaRPr lang="en-US" sz="1000" dirty="0"/>
          </a:p>
        </p:txBody>
      </p:sp>
      <p:sp>
        <p:nvSpPr>
          <p:cNvPr id="17" name="Card 3"/>
          <p:cNvSpPr/>
          <p:nvPr/>
        </p:nvSpPr>
        <p:spPr>
          <a:xfrm>
            <a:off x="6187440" y="3291840"/>
            <a:ext cx="2636520" cy="268605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18" name="Circle 3"/>
          <p:cNvSpPr/>
          <p:nvPr/>
        </p:nvSpPr>
        <p:spPr>
          <a:xfrm>
            <a:off x="6416040" y="3520440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19" name="Image 2" descr="icons/biz_predic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324" y="3647724"/>
            <a:ext cx="275783" cy="275783"/>
          </a:xfrm>
          <a:prstGeom prst="rect">
            <a:avLst/>
          </a:prstGeom>
        </p:spPr>
      </p:pic>
      <p:sp>
        <p:nvSpPr>
          <p:cNvPr id="20" name="Title 3"/>
          <p:cNvSpPr/>
          <p:nvPr/>
        </p:nvSpPr>
        <p:spPr>
          <a:xfrm>
            <a:off x="6416040" y="4160520"/>
            <a:ext cx="217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Demand Planning</a:t>
            </a:r>
            <a:endParaRPr lang="en-US" sz="1300" dirty="0"/>
          </a:p>
        </p:txBody>
      </p:sp>
      <p:sp>
        <p:nvSpPr>
          <p:cNvPr id="21" name="Desc 3"/>
          <p:cNvSpPr/>
          <p:nvPr/>
        </p:nvSpPr>
        <p:spPr>
          <a:xfrm>
            <a:off x="6416040" y="4526280"/>
            <a:ext cx="2179320" cy="13601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YoY growth signals by manufacturer to time production and inventory ahead of regional demand spikes.</a:t>
            </a:r>
            <a:endParaRPr lang="en-US" sz="1000" dirty="0"/>
          </a:p>
        </p:txBody>
      </p:sp>
      <p:sp>
        <p:nvSpPr>
          <p:cNvPr id="22" name="Card 4"/>
          <p:cNvSpPr/>
          <p:nvPr/>
        </p:nvSpPr>
        <p:spPr>
          <a:xfrm>
            <a:off x="9006840" y="3291840"/>
            <a:ext cx="2636520" cy="268605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23" name="Circle 4"/>
          <p:cNvSpPr/>
          <p:nvPr/>
        </p:nvSpPr>
        <p:spPr>
          <a:xfrm>
            <a:off x="9235440" y="3520440"/>
            <a:ext cx="530352" cy="530352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24" name="Image 3" descr="icons/biz_ru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2724" y="3647724"/>
            <a:ext cx="275783" cy="275783"/>
          </a:xfrm>
          <a:prstGeom prst="rect">
            <a:avLst/>
          </a:prstGeom>
        </p:spPr>
      </p:pic>
      <p:sp>
        <p:nvSpPr>
          <p:cNvPr id="25" name="Title 4"/>
          <p:cNvSpPr/>
          <p:nvPr/>
        </p:nvSpPr>
        <p:spPr>
          <a:xfrm>
            <a:off x="9235440" y="4160520"/>
            <a:ext cx="217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Top-5 States</a:t>
            </a:r>
            <a:endParaRPr lang="en-US" sz="1300" dirty="0"/>
          </a:p>
        </p:txBody>
      </p:sp>
      <p:sp>
        <p:nvSpPr>
          <p:cNvPr id="26" name="Desc 4"/>
          <p:cNvSpPr/>
          <p:nvPr/>
        </p:nvSpPr>
        <p:spPr>
          <a:xfrm>
            <a:off x="9235440" y="4526280"/>
            <a:ext cx="2179320" cy="13601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distribution and service networks past the top-5 states that already hold 51% of registrations.</a:t>
            </a:r>
            <a:endParaRPr lang="en-US" sz="1000" dirty="0"/>
          </a:p>
        </p:txBody>
      </p:sp>
      <p:sp>
        <p:nvSpPr>
          <p:cNvPr id="27" name="Footer Lef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for Electric Vehicles in India</a:t>
            </a:r>
            <a:endParaRPr lang="en-US" sz="900" dirty="0"/>
          </a:p>
        </p:txBody>
      </p:sp>
      <p:sp>
        <p:nvSpPr>
          <p:cNvPr id="28" name="Footer Right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283374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840480" cy="3840480"/>
          </a:xfrm>
          <a:prstGeom prst="ellipse">
            <a:avLst/>
          </a:prstGeom>
          <a:solidFill>
            <a:srgbClr val="2530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6" name="Image 0" descr="icons/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14118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2801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EV market shows consistent year-over-year growth — an active expansion phase, not a plateau.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029968"/>
            <a:ext cx="548640" cy="548640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9" name="Image 1" descr="icons/con_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2161642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02996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leadership is concentrated: Ola Electric, top-5 states, and Passenger-class vehicles dominate volume.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2779776"/>
            <a:ext cx="548640" cy="548640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12" name="Image 2" descr="icons/con_fu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2911450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779776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extend this analysis with real registration data, add predictive models, and track quarterly.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0080" y="362102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turns 30,000+ raw registration records into a clear, actionable market strategy for India’s EV ecosystem.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40080" y="4663440"/>
            <a:ext cx="108813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0080" y="48920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7" name="Text 12"/>
          <p:cNvSpPr/>
          <p:nvPr/>
        </p:nvSpPr>
        <p:spPr>
          <a:xfrm>
            <a:off x="640080" y="5623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Jain  |  Reg. No. CL20260703011712424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1822</Words>
  <Application>Microsoft Office PowerPoint</Application>
  <PresentationFormat>Widescreen</PresentationFormat>
  <Paragraphs>289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Vipul Jain</cp:lastModifiedBy>
  <cp:revision>4</cp:revision>
  <dcterms:created xsi:type="dcterms:W3CDTF">2026-07-26T09:50:07Z</dcterms:created>
  <dcterms:modified xsi:type="dcterms:W3CDTF">2026-07-31T16:07:12Z</dcterms:modified>
</cp:coreProperties>
</file>